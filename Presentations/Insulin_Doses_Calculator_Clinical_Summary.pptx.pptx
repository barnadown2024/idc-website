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753600" cy="7315200"/>
  <p:notesSz cx="6858000" cy="9144000"/>
  <p:embeddedFontLs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Insulin Doses Calculator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0560" y="2047875"/>
            <a:ext cx="8595360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Usage, Engagement &amp; Early Adoption Summary</a:t>
            </a:r>
          </a:p>
          <a:p>
            <a:pPr algn="l" marL="439273" indent="-219637" lvl="1">
              <a:lnSpc>
                <a:spcPts val="4095"/>
              </a:lnSpc>
            </a:pP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Clinical &amp; Medical Specialists</a:t>
            </a:r>
          </a:p>
          <a:p>
            <a:pPr algn="l" marL="439273" indent="-219637" lvl="1">
              <a:lnSpc>
                <a:spcPts val="4095"/>
              </a:lnSpc>
            </a:pP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Reporting Period: 5–12 January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Purpose of the Platform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846783"/>
            <a:ext cx="8595360" cy="521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Digital tool supporting insulin dose calculations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Designed for clarity, speed, and repeat use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Supports – does not replace – clinical judgement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Built with performance, privacy, and safety in mind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Audience &amp; Use Case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2305050"/>
            <a:ext cx="8595360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Individuals managing insulin dosing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Repeated daily calculator use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Utility-focused, not content browsing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Indicates intentional, problem-solving behaviour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Weekly Usage Snapshot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790700"/>
            <a:ext cx="8595360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522 unique users in 7 days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7,800 total interactions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~15 interactions per user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Consistent daily usage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Engagement Quality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2222918"/>
            <a:ext cx="8595360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High repeat interaction per visit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Low bounce behaviour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Suggests trust and usefulness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Above-average engagement for early-stage health tools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&amp; Reliability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2019209"/>
            <a:ext cx="8595360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49% of content delivered instantly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Fast page load times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Lightweight data usage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Optimised for mobile and low-bandwidth environments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Privacy &amp; Data Handling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2158222"/>
            <a:ext cx="8595360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No unnecessary personal data collected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No advertising or behavioral tracking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GDPR-aligned minimal data approach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Designed for trust and safety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Discoverability &amp; SEO Signals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2068921"/>
            <a:ext cx="8595360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Organic user discovery already occurring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Positive engagement signals to search engines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Early trust formation phase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Sustainable long-term visibility expected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Growth Trajectory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780746"/>
            <a:ext cx="8595360" cy="480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 Months: 3,000–3,500 users/month (expected)</a:t>
            </a:r>
          </a:p>
          <a:p>
            <a:pPr algn="l" marL="439273" indent="-219637" lvl="1">
              <a:lnSpc>
                <a:spcPts val="4095"/>
              </a:lnSpc>
            </a:pP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6 Months: 4,500–6,000 users/month (expected)</a:t>
            </a:r>
          </a:p>
          <a:p>
            <a:pPr algn="l" marL="439273" indent="-219637" lvl="1">
              <a:lnSpc>
                <a:spcPts val="4095"/>
              </a:lnSpc>
            </a:pP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Steady, trust-led growth pattern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This Matters Clinically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790700"/>
            <a:ext cx="8595360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Demonstrates real-world patient adoption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Shows repeat engagement and reliance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Potential adjunct support tool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Foundation for clinical feedback and validation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Positioning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790700"/>
            <a:ext cx="8595360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Not diagnostic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Not a replacement for medical advice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Supportive digital aid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Designed with clinical responsibility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205" y="292951"/>
            <a:ext cx="7074715" cy="1219200"/>
            <a:chOff x="0" y="0"/>
            <a:chExt cx="9432953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2953" cy="1625600"/>
            </a:xfrm>
            <a:custGeom>
              <a:avLst/>
              <a:gdLst/>
              <a:ahLst/>
              <a:cxnLst/>
              <a:rect r="r" b="b" t="t" l="l"/>
              <a:pathLst>
                <a:path h="1625600" w="9432953">
                  <a:moveTo>
                    <a:pt x="0" y="0"/>
                  </a:moveTo>
                  <a:lnTo>
                    <a:pt x="9432953" y="0"/>
                  </a:lnTo>
                  <a:lnTo>
                    <a:pt x="9432953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432953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Discussion &amp; Next Steps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790700"/>
            <a:ext cx="8595360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Clinical validation pathways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Safety messaging refinement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Professional oversight opportunities</a:t>
            </a:r>
          </a:p>
          <a:p>
            <a:pPr algn="l">
              <a:lnSpc>
                <a:spcPts val="4095"/>
              </a:lnSpc>
            </a:pPr>
          </a:p>
          <a:p>
            <a:pPr algn="l">
              <a:lnSpc>
                <a:spcPts val="4095"/>
              </a:lnSpc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Collaboration and governance models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520" y="172708"/>
            <a:ext cx="1459685" cy="1459685"/>
          </a:xfrm>
          <a:custGeom>
            <a:avLst/>
            <a:gdLst/>
            <a:ahLst/>
            <a:cxnLst/>
            <a:rect r="r" b="b" t="t" l="l"/>
            <a:pathLst>
              <a:path h="1459685" w="1459685">
                <a:moveTo>
                  <a:pt x="0" y="0"/>
                </a:moveTo>
                <a:lnTo>
                  <a:pt x="1459685" y="0"/>
                </a:lnTo>
                <a:lnTo>
                  <a:pt x="1459685" y="1459686"/>
                </a:lnTo>
                <a:lnTo>
                  <a:pt x="0" y="1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DAG-M5zRsYY</dc:identifier>
  <dcterms:modified xsi:type="dcterms:W3CDTF">2011-08-01T06:04:30Z</dcterms:modified>
  <cp:revision>1</cp:revision>
  <dc:title>Insulin_Doses_Calculator_Clinical_Summary.pptx</dc:title>
</cp:coreProperties>
</file>